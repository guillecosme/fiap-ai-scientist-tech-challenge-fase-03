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40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D145B"/>
                </a:solidFill>
                <a:latin typeface="Calibri"/>
              </a:rPr>
              <a:t>TECH CHALLENGE   ·   FASE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Calibri"/>
              </a:rPr>
              <a:t>Predição e Inteligência Analítica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Calibri"/>
              </a:rPr>
              <a:t>para Alfabetização no Brasil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Da camada Gold aos modelos: quem tende a não ser alfabetizado, onde e por quê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4846320"/>
            <a:ext cx="137160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074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Guilherme Cosme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440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RM 372204   ·   Turma 1IAST   ·   MBA AI Scientist   ·   FIAP / POSTECH</a:t>
            </a:r>
          </a:p>
        </p:txBody>
      </p:sp>
      <p:pic>
        <p:nvPicPr>
          <p:cNvPr id="11" name="Picture 10" descr="github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907024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6152" y="588873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github.com/guillecosme/fiap-ai-scientist-tech-challenge-fase-03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23620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45B"/>
                </a:solidFill>
                <a:latin typeface="Calibri"/>
              </a:rPr>
              <a:t>Vídeo executivo (5 min): </a:t>
            </a:r>
            <a:r>
              <a:rPr sz="1200" b="0">
                <a:solidFill>
                  <a:srgbClr val="555555"/>
                </a:solidFill>
                <a:latin typeface="Calibri"/>
              </a:rPr>
              <a:t>(link do vídeo)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O problema: antecipar, não só medir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6309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O Indicador Criança Alfabetizada diz, a cada ano, quantas crianças do 2º ano leem e escrevem no nível esperado. Ele mostra onde estamos.</a:t>
            </a:r>
          </a:p>
          <a:p>
            <a:pPr algn="l">
              <a:spcAft>
                <a:spcPts val="1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Mas a gestão precisa de outra coisa: saber com antecedência quais municípios tendem a ficar aquém da meta, quais fatores pesam e onde o esforço rende mais.</a:t>
            </a:r>
          </a:p>
          <a:p>
            <a:pPr algn="l">
              <a:spcAft>
                <a:spcPts val="1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Esta fase transforma a camada Gold da Fase 2, agora com dado real do Inep e do IBGE, em modelos que respondem a essas perguntas.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78308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965960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1A1A1A"/>
                </a:solidFill>
                <a:latin typeface="Calibri"/>
              </a:rPr>
              <a:t>56% → 66%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crianças alfabetizadas no 2º ano, 2023 a 2025 (Brasil, rede pública)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29184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3474720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ED145B"/>
                </a:solidFill>
                <a:latin typeface="Calibri"/>
              </a:rPr>
              <a:t>80%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meta nacional para 2030, com metas anuais por município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80060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4983480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1A1A1A"/>
                </a:solidFill>
                <a:latin typeface="Calibri"/>
              </a:rPr>
              <a:t>743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pontos na escala Saeb: o corte que define uma criança alfabetizada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BASE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Da Gold da Fase 2 ao dado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39" y="201168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0604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Indicador e metas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Inep: resultado por município 2023 a 2025 e metas anuais até 2030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8308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2011680"/>
            <a:ext cx="457200" cy="45720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0604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Microdados por aluno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4,3 milhões de alunos avaliados em 2024 e 2025, com rede, escola e proficiência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69479" y="201168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4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Contexto educacional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Censo Escolar (docentes, turmas, distorção), rendimento, IDEB 2005 a 2025, INSE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78308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399" y="2011680"/>
            <a:ext cx="457200" cy="45720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60604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Território e renda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IBGE: população, densidade, PIB e composição da economia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Mesmo contrato de esquema da Fase 2, tabelas recompostas com as fontes públicas e uma tabela nova no grão de aluno. Nenhuma fonte exige credencial; downloads conferidos por hash.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Regra que evita vazamento: para prever o ano t só entram variáveis conhecidas antes da prova (Censo Escolar de t, rendimento e IDEB de t-1, resultado de t-1, meta de t).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ANÁLISE EXPLORATÓRIA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Três achados que moldaram os modelos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indicador_por_u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74916"/>
            <a:ext cx="6675120" cy="251400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6640" y="178308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920240"/>
            <a:ext cx="38404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A UF explica um terço da variação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e a região quase nada: Ceará e Bahia são vizinhos e opostos. Gestão estadual e instrumento de prova pesam.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264408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3401568"/>
            <a:ext cx="38404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Fluxo escolar pesa mais que renda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abandono, reprovação e distorção idade-série têm correlação três vezes maior que INSE e PIB per capita.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4745736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4882896"/>
            <a:ext cx="38404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85% da variação é dentro da escola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o modelo do aluno só enxerga o contexto; serve para triagem de redes, não para rotular crianças.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Como os modelos foram construídos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39" y="2011680"/>
            <a:ext cx="457200" cy="45720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2194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Preprocessamento integrado</a:t>
            </a:r>
          </a:p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imputação pela mediana, log nas variáveis de porte e renda, escalonamento e one-hot, tudo dentro do pipeline e ajustado só no treino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8308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2011680"/>
            <a:ext cx="457200" cy="45720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51760"/>
            <a:ext cx="2194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Validação por município</a:t>
            </a:r>
          </a:p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folds que separam municípios inteiros; busca aleatória de hiperparâmetros em logística, random forest e gradient boosting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69479" y="2011680"/>
            <a:ext cx="457200" cy="45720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2194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Teste temporal</a:t>
            </a:r>
          </a:p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treino em 2024, teste em 2025 aberto uma única vez; curvas de aprendizado e ablação por bloco de variáveis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78308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399" y="2011680"/>
            <a:ext cx="457200" cy="45720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651760"/>
            <a:ext cx="2194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Ponto de operação</a:t>
            </a:r>
          </a:p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limiar escolhido pela política: encontrar pelo menos 70% dos casos de não alfabetização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MODELO DO ALUNO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Prever se o aluno será alfabetizado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teste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38749"/>
            <a:ext cx="7315200" cy="21863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783080"/>
            <a:ext cx="3474720" cy="132588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965960"/>
            <a:ext cx="30175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1F4E79"/>
                </a:solidFill>
                <a:latin typeface="Calibri"/>
              </a:rPr>
              <a:t>0.65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AUC-ROC no teste de 2025 (validação 2024: 0.66)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3246120"/>
            <a:ext cx="3474720" cy="132588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429000"/>
            <a:ext cx="30175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ED145B"/>
                </a:solidFill>
                <a:latin typeface="Calibri"/>
              </a:rPr>
              <a:t>69%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das crianças não alfabetizadas de 2025 identificadas no ponto de operação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75488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Sem dado individual do aluno, o teto é o contexto. O modelo ordena bem o risco entre escolas e municípios e a ordem se manteve no ano seguinte.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RISCO MUNICIPAL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Quem tende a não atingir a meta: a lição do alvo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regressao_ni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52458"/>
            <a:ext cx="7315200" cy="218732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783080"/>
            <a:ext cx="3474720" cy="30175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92024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Classificador direto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AUC 0.81 em 2024 e 0.60 em 2025: aprendeu a regra da meta de 2024, que mudou.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D145B"/>
                </a:solidFill>
                <a:latin typeface="Calibri"/>
              </a:rPr>
              <a:t>Regressão do nível + meta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AUC do risco 0.77 em 2025; ordem dos municípios preservada (Spearman 0.69).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8348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 modelo prevê o percentual de alfabetizados e o risco é a chance de ficar abaixo da meta. A meta entra no fim, não no aprendizado, e por isso o modelo sobrevive a mudanças na regra. </a:t>
            </a:r>
            <a:r>
              <a:rPr sz="1400" b="0">
                <a:solidFill>
                  <a:srgbClr val="555555"/>
                </a:solidFill>
                <a:latin typeface="Calibri"/>
              </a:rPr>
              <a:t>O viés de -7 p.p. em 2025 é o salto nacional daquele ano, que nenhum modelo treinado em 2024 anteciparia: reajuste anual é parte do método.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APLICAÇÃO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Onde concentrar esforço em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mapa_ri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1255"/>
            <a:ext cx="7863840" cy="33013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783080"/>
            <a:ext cx="3154680" cy="128016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965960"/>
            <a:ext cx="2697480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ED145B"/>
                </a:solidFill>
                <a:latin typeface="Calibri"/>
              </a:rPr>
              <a:t>914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de 5.477 municípios com risco acima de 50% de não atingir a meta de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2461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UFs com mais municípios em risco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61188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45B"/>
                </a:solidFill>
                <a:latin typeface="Calibri"/>
              </a:rPr>
              <a:t>RS  </a:t>
            </a:r>
            <a:r>
              <a:rPr sz="1100" b="0">
                <a:solidFill>
                  <a:srgbClr val="555555"/>
                </a:solidFill>
                <a:latin typeface="Calibri"/>
              </a:rPr>
              <a:t>69% dos municípios, salto mediano de 10 p.p.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94106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45B"/>
                </a:solidFill>
                <a:latin typeface="Calibri"/>
              </a:rPr>
              <a:t>SP  </a:t>
            </a:r>
            <a:r>
              <a:rPr sz="1100" b="0">
                <a:solidFill>
                  <a:srgbClr val="555555"/>
                </a:solidFill>
                <a:latin typeface="Calibri"/>
              </a:rPr>
              <a:t>41% dos municípios, salto mediano de 2 p.p.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27024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45B"/>
                </a:solidFill>
                <a:latin typeface="Calibri"/>
              </a:rPr>
              <a:t>RJ  </a:t>
            </a:r>
            <a:r>
              <a:rPr sz="1100" b="0">
                <a:solidFill>
                  <a:srgbClr val="555555"/>
                </a:solidFill>
                <a:latin typeface="Calibri"/>
              </a:rPr>
              <a:t>36% dos municípios, salto mediano de 3 p.p.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599432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45B"/>
                </a:solidFill>
                <a:latin typeface="Calibri"/>
              </a:rPr>
              <a:t>RN  </a:t>
            </a:r>
            <a:r>
              <a:rPr sz="1100" b="0">
                <a:solidFill>
                  <a:srgbClr val="555555"/>
                </a:solidFill>
                <a:latin typeface="Calibri"/>
              </a:rPr>
              <a:t>28% dos municípios, salto mediano de 3 p.p.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92861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45B"/>
                </a:solidFill>
                <a:latin typeface="Calibri"/>
              </a:rPr>
              <a:t>SC  </a:t>
            </a:r>
            <a:r>
              <a:rPr sz="1100" b="0">
                <a:solidFill>
                  <a:srgbClr val="555555"/>
                </a:solidFill>
                <a:latin typeface="Calibri"/>
              </a:rPr>
              <a:t>24% dos municípios, salto mediano de 1 p.p.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44068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Lista completa por município, com os fatores de cada um, em reports/municipios_risco_2026.csv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PERFIS TERRITORIAIS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Quais municípios se parecem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assinatura_perf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1019"/>
            <a:ext cx="7589520" cy="2941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783080"/>
            <a:ext cx="32918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ED145B"/>
                </a:solidFill>
                <a:latin typeface="Calibri"/>
              </a:rPr>
              <a:t>4 perfis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separados por dois eixos: fluxo e resultado; porte e renda.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Os perfis cortam as regiões: o Nordeste tem municípios nos quatro, e o perfil de renda baixa com resultado alto é 82% nordestino.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Cruzados com o risco, separam quem precisa de intervenção estrutural de quem só tem meta agressiva.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INTERPRETABILIDADE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O que mais pesa na alfabetização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fat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8013"/>
            <a:ext cx="7589520" cy="27478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783080"/>
            <a:ext cx="32918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Nos dois modelos, em ordem: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1. % alfabetizados no ano anterior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2. IDEB anos iniciais (última edição)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3. UF (estado)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4. Participação na prova no ano anterior (%)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5. Salto necessário para a meta (p.p.)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6. População (Censo 2022)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SHAP e permutação concordam: histórico da rede, IDEB e presença vêm antes da renda. Redes bem geridas alfabetizam em contextos pobres.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POLÍTICA PÚBLICA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Como isso apoia a decisão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39" y="2011680"/>
            <a:ext cx="457200" cy="457200"/>
          </a:xfrm>
          <a:prstGeom prst="ellipse">
            <a:avLst/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2194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Triagem anual</a:t>
            </a:r>
          </a:p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lista de municípios por risco de não atingir a meta, com os fatores de cada um, antes do ano letivo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8308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2011680"/>
            <a:ext cx="457200" cy="457200"/>
          </a:xfrm>
          <a:prstGeom prst="ellipse">
            <a:avLst/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51760"/>
            <a:ext cx="2194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Sinal de alerta barato</a:t>
            </a:r>
          </a:p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distorção idade-série, abandono e presença na prova: três números que já estão no Censo e antecipam o resultado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69479" y="2011680"/>
            <a:ext cx="457200" cy="457200"/>
          </a:xfrm>
          <a:prstGeom prst="ellipse">
            <a:avLst/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2194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Estratégia por perfil</a:t>
            </a:r>
          </a:p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mesma intervenção para municípios do mesmo perfil, independente da região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78308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399" y="2011680"/>
            <a:ext cx="457200" cy="457200"/>
          </a:xfrm>
          <a:prstGeom prst="ellips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651760"/>
            <a:ext cx="2194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Limites honestos</a:t>
            </a:r>
          </a:p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modelo preditivo, não causal; não prevê choques de política; precisa de reajuste a cada ciclo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D145B"/>
                </a:solidFill>
                <a:latin typeface="Calibri"/>
              </a:rPr>
              <a:t>FECHAMENTO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De dado público a decisão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10332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Gold real, pipeline reproduzível, dois modelos validados no tempo, perfis de município e explicações em linguagem de gestão.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Próximos passos: variáveis do aluno e da escola (Censo Escolar por escola), avaliação causal de programas de alfabetização e reajuste anual automatizado com o dado novo.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5166360"/>
            <a:ext cx="137160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ithub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449824"/>
            <a:ext cx="237744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16152" y="543153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github.com/guillecosme/fiap-ai-scientist-tech-challenge-fase-03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9729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45B"/>
                </a:solidFill>
                <a:latin typeface="Calibri"/>
              </a:rPr>
              <a:t>Vídeo executivo (5 min): </a:t>
            </a:r>
            <a:r>
              <a:rPr sz="1200" b="0">
                <a:solidFill>
                  <a:srgbClr val="555555"/>
                </a:solidFill>
                <a:latin typeface="Calibri"/>
              </a:rPr>
              <a:t>(link do vídeo)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16305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Guilherme Cosme  ·  RM 372204  ·  MBA AI Scientist  ·  FIAP / POSTECH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