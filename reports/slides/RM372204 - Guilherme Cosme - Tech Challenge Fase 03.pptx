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92608" cy="6858000"/>
          </a:xfrm>
          <a:prstGeom prst="rect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24028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ED145B"/>
                </a:solidFill>
                <a:latin typeface="Calibri"/>
              </a:rPr>
              <a:t>TECH CHALLENGE   ·   FASE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06040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1A1A1A"/>
                </a:solidFill>
                <a:latin typeface="Calibri"/>
              </a:rPr>
              <a:t>Predição e Inteligência Analítica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246120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1A1A1A"/>
                </a:solidFill>
                <a:latin typeface="Calibri"/>
              </a:rPr>
              <a:t>para Alfabetização no Brasil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4160520"/>
            <a:ext cx="103327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>
                <a:solidFill>
                  <a:srgbClr val="555555"/>
                </a:solidFill>
                <a:latin typeface="Calibri"/>
              </a:rPr>
              <a:t>Modelos preditivos sobre a camada Gold do Indicador Criança Alfabetizada</a:t>
            </a:r>
          </a:p>
        </p:txBody>
      </p:sp>
      <p:sp>
        <p:nvSpPr>
          <p:cNvPr id="8" name="Rectangle 7"/>
          <p:cNvSpPr/>
          <p:nvPr/>
        </p:nvSpPr>
        <p:spPr>
          <a:xfrm>
            <a:off x="886968" y="4846320"/>
            <a:ext cx="1371600" cy="50292"/>
          </a:xfrm>
          <a:prstGeom prst="rect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507492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1A1A1A"/>
                </a:solidFill>
                <a:latin typeface="Calibri"/>
              </a:rPr>
              <a:t>Guilherme Cosme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544068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55555"/>
                </a:solidFill>
                <a:latin typeface="Calibri"/>
              </a:rPr>
              <a:t>RM 372204   ·   Turma 1IAST   ·   MBA AI Scientist   ·   FIAP / POSTECH</a:t>
            </a:r>
          </a:p>
        </p:txBody>
      </p:sp>
      <p:pic>
        <p:nvPicPr>
          <p:cNvPr id="11" name="Picture 10" descr="github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5907024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216152" y="5888736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Calibri"/>
              </a:rPr>
              <a:t>github.com/guillecosme/fiap-ai-scientist-tech-challenge-fase-03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6236208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ED145B"/>
                </a:solidFill>
                <a:latin typeface="Calibri"/>
              </a:rPr>
              <a:t>Vídeo executivo (5 min): </a:t>
            </a:r>
            <a:r>
              <a:rPr sz="1200" b="0">
                <a:solidFill>
                  <a:srgbClr val="555555"/>
                </a:solidFill>
                <a:latin typeface="Calibri"/>
              </a:rPr>
              <a:t>(link do vídeo)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ED145B"/>
                </a:solidFill>
                <a:latin typeface="Calibri"/>
              </a:rPr>
              <a:t>CONTEXTO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1A1A"/>
                </a:solidFill>
                <a:latin typeface="Calibri"/>
              </a:rPr>
              <a:t>Contexto e problema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63040"/>
            <a:ext cx="1188720" cy="50292"/>
          </a:xfrm>
          <a:prstGeom prst="rect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630936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300"/>
              </a:spcAft>
            </a:pPr>
            <a:r>
              <a:rPr sz="1600" b="0">
                <a:solidFill>
                  <a:srgbClr val="1A1A1A"/>
                </a:solidFill>
                <a:latin typeface="Calibri"/>
              </a:rPr>
              <a:t>O Indicador Criança Alfabetizada mede, a cada ano, o percentual de alunos do 2º ano que atingem o nível de leitura e escrita esperado, por município, com metas anuais até 2030.</a:t>
            </a:r>
          </a:p>
          <a:p>
            <a:pPr algn="l">
              <a:spcAft>
                <a:spcPts val="1300"/>
              </a:spcAft>
            </a:pPr>
            <a:r>
              <a:rPr sz="1600" b="0">
                <a:solidFill>
                  <a:srgbClr val="1A1A1A"/>
                </a:solidFill>
                <a:latin typeface="Calibri"/>
              </a:rPr>
              <a:t>O indicador é conhecido depois da prova. A gestão precisa saber antes quais municípios tendem a ficar abaixo da meta, quais fatores estão associados ao resultado e onde concentrar apoio.</a:t>
            </a:r>
          </a:p>
          <a:p>
            <a:pPr algn="l">
              <a:spcAft>
                <a:spcPts val="1300"/>
              </a:spcAft>
            </a:pPr>
            <a:r>
              <a:rPr sz="1600" b="0">
                <a:solidFill>
                  <a:srgbClr val="1A1A1A"/>
                </a:solidFill>
                <a:latin typeface="Calibri"/>
              </a:rPr>
              <a:t>Esta fase usa a camada Gold da Fase 2, agora com dado real do Inep e do IBGE, para treinar modelos que respondem a essas perguntas.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0" y="1783080"/>
            <a:ext cx="4206240" cy="1371600"/>
          </a:xfrm>
          <a:prstGeom prst="roundRect">
            <a:avLst>
              <a:gd name="adj" fmla="val 6000"/>
            </a:avLst>
          </a:prstGeom>
          <a:solidFill>
            <a:srgbClr val="F4F4F6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43800" y="1965960"/>
            <a:ext cx="374903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4000" b="1">
                <a:solidFill>
                  <a:srgbClr val="1A1A1A"/>
                </a:solidFill>
                <a:latin typeface="Calibri"/>
              </a:rPr>
              <a:t>56% → 66%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555"/>
                </a:solidFill>
                <a:latin typeface="Calibri"/>
              </a:rPr>
              <a:t>crianças alfabetizadas no 2º ano, 2023 a 2025 (Brasil, rede pública)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0" y="3291840"/>
            <a:ext cx="4206240" cy="1371600"/>
          </a:xfrm>
          <a:prstGeom prst="roundRect">
            <a:avLst>
              <a:gd name="adj" fmla="val 6000"/>
            </a:avLst>
          </a:prstGeom>
          <a:solidFill>
            <a:srgbClr val="F4F4F6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43800" y="3474720"/>
            <a:ext cx="374903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4000" b="1">
                <a:solidFill>
                  <a:srgbClr val="ED145B"/>
                </a:solidFill>
                <a:latin typeface="Calibri"/>
              </a:rPr>
              <a:t>80%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555"/>
                </a:solidFill>
                <a:latin typeface="Calibri"/>
              </a:rPr>
              <a:t>meta nacional para 2030, com metas anuais por município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0" y="4800600"/>
            <a:ext cx="4206240" cy="1371600"/>
          </a:xfrm>
          <a:prstGeom prst="roundRect">
            <a:avLst>
              <a:gd name="adj" fmla="val 6000"/>
            </a:avLst>
          </a:prstGeom>
          <a:solidFill>
            <a:srgbClr val="F4F4F6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43800" y="4983480"/>
            <a:ext cx="374903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4000" b="1">
                <a:solidFill>
                  <a:srgbClr val="1A1A1A"/>
                </a:solidFill>
                <a:latin typeface="Calibri"/>
              </a:rPr>
              <a:t>743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555"/>
                </a:solidFill>
                <a:latin typeface="Calibri"/>
              </a:rPr>
              <a:t>pontos na escala Saeb: o corte que define uma criança alfabetizada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6382512"/>
            <a:ext cx="10908792" cy="10972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55664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Predição e Inteligência Analítica para Alfabetização  ·  Tech Challenge Fase 3  ·  MBA AI Scientist FIAP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89920" y="6455664"/>
            <a:ext cx="7589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ED145B"/>
                </a:solidFill>
                <a:latin typeface="Calibri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ED145B"/>
                </a:solidFill>
                <a:latin typeface="Calibri"/>
              </a:rPr>
              <a:t>BASE DE DADOS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1A1A"/>
                </a:solidFill>
                <a:latin typeface="Calibri"/>
              </a:rPr>
              <a:t>Base de dados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63040"/>
            <a:ext cx="1188720" cy="50292"/>
          </a:xfrm>
          <a:prstGeom prst="rect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2560320" cy="2377440"/>
          </a:xfrm>
          <a:prstGeom prst="roundRect">
            <a:avLst>
              <a:gd name="adj" fmla="val 6000"/>
            </a:avLst>
          </a:prstGeom>
          <a:solidFill>
            <a:srgbClr val="F4F4F6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691639" y="2011680"/>
            <a:ext cx="457200" cy="4572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2606040"/>
            <a:ext cx="21945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1A1A1A"/>
                </a:solidFill>
                <a:latin typeface="Calibri"/>
              </a:rPr>
              <a:t>Indicador e metas</a:t>
            </a:r>
          </a:p>
          <a:p>
            <a:pPr algn="ctr">
              <a:spcAft>
                <a:spcPts val="600"/>
              </a:spcAft>
            </a:pPr>
            <a:r>
              <a:rPr sz="1200" b="0">
                <a:solidFill>
                  <a:srgbClr val="555555"/>
                </a:solidFill>
                <a:latin typeface="Calibri"/>
              </a:rPr>
              <a:t>Inep: resultado por município 2023 a 2025 e metas anuais até 2030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29000" y="1783080"/>
            <a:ext cx="2560320" cy="2377440"/>
          </a:xfrm>
          <a:prstGeom prst="roundRect">
            <a:avLst>
              <a:gd name="adj" fmla="val 6000"/>
            </a:avLst>
          </a:prstGeom>
          <a:solidFill>
            <a:srgbClr val="F4F4F6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480560" y="2011680"/>
            <a:ext cx="457200" cy="457200"/>
          </a:xfrm>
          <a:prstGeom prst="ellipse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11880" y="2606040"/>
            <a:ext cx="21945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1A1A1A"/>
                </a:solidFill>
                <a:latin typeface="Calibri"/>
              </a:rPr>
              <a:t>Microdados por aluno</a:t>
            </a:r>
          </a:p>
          <a:p>
            <a:pPr algn="ctr">
              <a:spcAft>
                <a:spcPts val="600"/>
              </a:spcAft>
            </a:pPr>
            <a:r>
              <a:rPr sz="1200" b="0">
                <a:solidFill>
                  <a:srgbClr val="555555"/>
                </a:solidFill>
                <a:latin typeface="Calibri"/>
              </a:rPr>
              <a:t>4,3 milhões de alunos avaliados em 2024 e 2025, com rede, escola e proficiência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783080"/>
            <a:ext cx="2560320" cy="2377440"/>
          </a:xfrm>
          <a:prstGeom prst="roundRect">
            <a:avLst>
              <a:gd name="adj" fmla="val 6000"/>
            </a:avLst>
          </a:prstGeom>
          <a:solidFill>
            <a:srgbClr val="F4F4F6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269479" y="2011680"/>
            <a:ext cx="457200" cy="4572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606040"/>
            <a:ext cx="21945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1A1A1A"/>
                </a:solidFill>
                <a:latin typeface="Calibri"/>
              </a:rPr>
              <a:t>Contexto educacional</a:t>
            </a:r>
          </a:p>
          <a:p>
            <a:pPr algn="ctr">
              <a:spcAft>
                <a:spcPts val="600"/>
              </a:spcAft>
            </a:pPr>
            <a:r>
              <a:rPr sz="1200" b="0">
                <a:solidFill>
                  <a:srgbClr val="555555"/>
                </a:solidFill>
                <a:latin typeface="Calibri"/>
              </a:rPr>
              <a:t>Censo Escolar (docentes, turmas, distorção), rendimento, IDEB 2005 a 2025, INSE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06839" y="1783080"/>
            <a:ext cx="2560320" cy="2377440"/>
          </a:xfrm>
          <a:prstGeom prst="roundRect">
            <a:avLst>
              <a:gd name="adj" fmla="val 6000"/>
            </a:avLst>
          </a:prstGeom>
          <a:solidFill>
            <a:srgbClr val="F4F4F6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058399" y="2011680"/>
            <a:ext cx="457200" cy="457200"/>
          </a:xfrm>
          <a:prstGeom prst="ellipse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89719" y="2606040"/>
            <a:ext cx="21945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1A1A1A"/>
                </a:solidFill>
                <a:latin typeface="Calibri"/>
              </a:rPr>
              <a:t>Território e renda</a:t>
            </a:r>
          </a:p>
          <a:p>
            <a:pPr algn="ctr">
              <a:spcAft>
                <a:spcPts val="600"/>
              </a:spcAft>
            </a:pPr>
            <a:r>
              <a:rPr sz="1200" b="0">
                <a:solidFill>
                  <a:srgbClr val="555555"/>
                </a:solidFill>
                <a:latin typeface="Calibri"/>
              </a:rPr>
              <a:t>IBGE: população, densidade, PIB e composição da economia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434840"/>
            <a:ext cx="1088136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Calibri"/>
              </a:rPr>
              <a:t>Mesmo contrato de esquema da Fase 2, tabelas recompostas com as fontes públicas e uma tabela nova no grão de aluno. Nenhuma fonte exige credencial; downloads conferidos por hash.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Calibri"/>
              </a:rPr>
              <a:t>Alinhamento temporal: para prever o ano t só entram variáveis conhecidas antes da prova (Censo Escolar de t, rendimento e IDEB de t-1, resultado de t-1, meta de t).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6382512"/>
            <a:ext cx="10908792" cy="10972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6455664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Predição e Inteligência Analítica para Alfabetização  ·  Tech Challenge Fase 3  ·  MBA AI Scientist FIAP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89920" y="6455664"/>
            <a:ext cx="7589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ED145B"/>
                </a:solidFill>
                <a:latin typeface="Calibri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ED145B"/>
                </a:solidFill>
                <a:latin typeface="Calibri"/>
              </a:rPr>
              <a:t>ANÁLISE EXPLORATÓRIA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1A1A"/>
                </a:solidFill>
                <a:latin typeface="Calibri"/>
              </a:rPr>
              <a:t>Análise exploratória: principais achados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63040"/>
            <a:ext cx="1188720" cy="50292"/>
          </a:xfrm>
          <a:prstGeom prst="rect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2_indicador_por_u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674916"/>
            <a:ext cx="6675120" cy="251400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406640" y="1783080"/>
            <a:ext cx="4206240" cy="1371600"/>
          </a:xfrm>
          <a:prstGeom prst="roundRect">
            <a:avLst>
              <a:gd name="adj" fmla="val 6000"/>
            </a:avLst>
          </a:prstGeom>
          <a:solidFill>
            <a:srgbClr val="F4F4F6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89520" y="1920240"/>
            <a:ext cx="384048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A1A1A"/>
                </a:solidFill>
                <a:latin typeface="Calibri"/>
              </a:rPr>
              <a:t>A UF explica um terço da variação entre municípios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55555"/>
                </a:solidFill>
                <a:latin typeface="Calibri"/>
              </a:rPr>
              <a:t>a região explica 6%. Gestão estadual e instrumento de avaliação pesam mais do que geografia.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06640" y="3264408"/>
            <a:ext cx="4206240" cy="1371600"/>
          </a:xfrm>
          <a:prstGeom prst="roundRect">
            <a:avLst>
              <a:gd name="adj" fmla="val 6000"/>
            </a:avLst>
          </a:prstGeom>
          <a:solidFill>
            <a:srgbClr val="F4F4F6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89520" y="3401568"/>
            <a:ext cx="384048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A1A1A"/>
                </a:solidFill>
                <a:latin typeface="Calibri"/>
              </a:rPr>
              <a:t>Fluxo escolar tem correlação maior que renda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55555"/>
                </a:solidFill>
                <a:latin typeface="Calibri"/>
              </a:rPr>
              <a:t>abandono, reprovação e distorção idade-série: -0,35 a -0,39; INSE e PIB per capita: abaixo de 0,10.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06640" y="4745736"/>
            <a:ext cx="4206240" cy="1371600"/>
          </a:xfrm>
          <a:prstGeom prst="roundRect">
            <a:avLst>
              <a:gd name="adj" fmla="val 6000"/>
            </a:avLst>
          </a:prstGeom>
          <a:solidFill>
            <a:srgbClr val="F4F4F6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89520" y="4882896"/>
            <a:ext cx="384048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A1A1A"/>
                </a:solidFill>
                <a:latin typeface="Calibri"/>
              </a:rPr>
              <a:t>85% da variância do alvo está dentro da escola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55555"/>
                </a:solidFill>
                <a:latin typeface="Calibri"/>
              </a:rPr>
              <a:t>sem variáveis do aluno, o modelo ordena escolas e redes; não classifica crianças individualmente.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6382512"/>
            <a:ext cx="10908792" cy="10972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55664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Predição e Inteligência Analítica para Alfabetização  ·  Tech Challenge Fase 3  ·  MBA AI Scientist FIAP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89920" y="6455664"/>
            <a:ext cx="7589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ED145B"/>
                </a:solidFill>
                <a:latin typeface="Calibri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ED145B"/>
                </a:solidFill>
                <a:latin typeface="Calibri"/>
              </a:rPr>
              <a:t>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1A1A"/>
                </a:solidFill>
                <a:latin typeface="Calibri"/>
              </a:rPr>
              <a:t>Pipeline de modelagem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63040"/>
            <a:ext cx="1188720" cy="50292"/>
          </a:xfrm>
          <a:prstGeom prst="rect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2560320" cy="3931920"/>
          </a:xfrm>
          <a:prstGeom prst="roundRect">
            <a:avLst>
              <a:gd name="adj" fmla="val 6000"/>
            </a:avLst>
          </a:prstGeom>
          <a:solidFill>
            <a:srgbClr val="F4F4F6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691639" y="2011680"/>
            <a:ext cx="457200" cy="457200"/>
          </a:xfrm>
          <a:prstGeom prst="ellipse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2651760"/>
            <a:ext cx="219456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800"/>
              </a:spcAft>
            </a:pPr>
            <a:r>
              <a:rPr sz="1500" b="1">
                <a:solidFill>
                  <a:srgbClr val="1A1A1A"/>
                </a:solidFill>
                <a:latin typeface="Calibri"/>
              </a:rPr>
              <a:t>Preprocessamento integrado</a:t>
            </a:r>
          </a:p>
          <a:p>
            <a:pPr algn="ctr">
              <a:spcAft>
                <a:spcPts val="800"/>
              </a:spcAft>
            </a:pPr>
            <a:r>
              <a:rPr sz="1200" b="0">
                <a:solidFill>
                  <a:srgbClr val="555555"/>
                </a:solidFill>
                <a:latin typeface="Calibri"/>
              </a:rPr>
              <a:t>imputação pela mediana, log nas variáveis de porte e renda, escalonamento e one-hot, tudo dentro do pipeline e ajustado só no treino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29000" y="1783080"/>
            <a:ext cx="2560320" cy="3931920"/>
          </a:xfrm>
          <a:prstGeom prst="roundRect">
            <a:avLst>
              <a:gd name="adj" fmla="val 6000"/>
            </a:avLst>
          </a:prstGeom>
          <a:solidFill>
            <a:srgbClr val="F4F4F6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480560" y="2011680"/>
            <a:ext cx="457200" cy="457200"/>
          </a:xfrm>
          <a:prstGeom prst="ellipse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11880" y="2651760"/>
            <a:ext cx="219456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800"/>
              </a:spcAft>
            </a:pPr>
            <a:r>
              <a:rPr sz="1500" b="1">
                <a:solidFill>
                  <a:srgbClr val="1A1A1A"/>
                </a:solidFill>
                <a:latin typeface="Calibri"/>
              </a:rPr>
              <a:t>Validação por município</a:t>
            </a:r>
          </a:p>
          <a:p>
            <a:pPr algn="ctr">
              <a:spcAft>
                <a:spcPts val="800"/>
              </a:spcAft>
            </a:pPr>
            <a:r>
              <a:rPr sz="1200" b="0">
                <a:solidFill>
                  <a:srgbClr val="555555"/>
                </a:solidFill>
                <a:latin typeface="Calibri"/>
              </a:rPr>
              <a:t>folds que separam municípios inteiros; busca aleatória de hiperparâmetros em logística, random forest e gradient boosting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783080"/>
            <a:ext cx="2560320" cy="3931920"/>
          </a:xfrm>
          <a:prstGeom prst="roundRect">
            <a:avLst>
              <a:gd name="adj" fmla="val 6000"/>
            </a:avLst>
          </a:prstGeom>
          <a:solidFill>
            <a:srgbClr val="F4F4F6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269479" y="2011680"/>
            <a:ext cx="457200" cy="457200"/>
          </a:xfrm>
          <a:prstGeom prst="ellipse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651760"/>
            <a:ext cx="219456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800"/>
              </a:spcAft>
            </a:pPr>
            <a:r>
              <a:rPr sz="1500" b="1">
                <a:solidFill>
                  <a:srgbClr val="1A1A1A"/>
                </a:solidFill>
                <a:latin typeface="Calibri"/>
              </a:rPr>
              <a:t>Teste temporal</a:t>
            </a:r>
          </a:p>
          <a:p>
            <a:pPr algn="ctr">
              <a:spcAft>
                <a:spcPts val="800"/>
              </a:spcAft>
            </a:pPr>
            <a:r>
              <a:rPr sz="1200" b="0">
                <a:solidFill>
                  <a:srgbClr val="555555"/>
                </a:solidFill>
                <a:latin typeface="Calibri"/>
              </a:rPr>
              <a:t>treino em 2024, teste em 2025 aberto uma única vez; curvas de aprendizado e ablação por bloco de variáveis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06839" y="1783080"/>
            <a:ext cx="2560320" cy="3931920"/>
          </a:xfrm>
          <a:prstGeom prst="roundRect">
            <a:avLst>
              <a:gd name="adj" fmla="val 6000"/>
            </a:avLst>
          </a:prstGeom>
          <a:solidFill>
            <a:srgbClr val="F4F4F6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058399" y="2011680"/>
            <a:ext cx="457200" cy="457200"/>
          </a:xfrm>
          <a:prstGeom prst="ellipse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89719" y="2651760"/>
            <a:ext cx="219456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800"/>
              </a:spcAft>
            </a:pPr>
            <a:r>
              <a:rPr sz="1500" b="1">
                <a:solidFill>
                  <a:srgbClr val="1A1A1A"/>
                </a:solidFill>
                <a:latin typeface="Calibri"/>
              </a:rPr>
              <a:t>Ponto de operação</a:t>
            </a:r>
          </a:p>
          <a:p>
            <a:pPr algn="ctr">
              <a:spcAft>
                <a:spcPts val="800"/>
              </a:spcAft>
            </a:pPr>
            <a:r>
              <a:rPr sz="1200" b="0">
                <a:solidFill>
                  <a:srgbClr val="555555"/>
                </a:solidFill>
                <a:latin typeface="Calibri"/>
              </a:rPr>
              <a:t>limiar definido por um critério de política: recall mínimo de 70% da classe de risco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6382512"/>
            <a:ext cx="10908792" cy="10972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6455664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Predição e Inteligência Analítica para Alfabetização  ·  Tech Challenge Fase 3  ·  MBA AI Scientist FIAP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89920" y="6455664"/>
            <a:ext cx="7589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ED145B"/>
                </a:solidFill>
                <a:latin typeface="Calibri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ED145B"/>
                </a:solidFill>
                <a:latin typeface="Calibri"/>
              </a:rPr>
              <a:t>MODELO DO ALUNO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1A1A"/>
                </a:solidFill>
                <a:latin typeface="Calibri"/>
              </a:rPr>
              <a:t>Modelo do aluno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63040"/>
            <a:ext cx="1188720" cy="50292"/>
          </a:xfrm>
          <a:prstGeom prst="rect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3_teste_20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838749"/>
            <a:ext cx="7315200" cy="21863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092440" y="1783080"/>
            <a:ext cx="3474720" cy="1325880"/>
          </a:xfrm>
          <a:prstGeom prst="roundRect">
            <a:avLst>
              <a:gd name="adj" fmla="val 6000"/>
            </a:avLst>
          </a:prstGeom>
          <a:solidFill>
            <a:srgbClr val="F4F4F6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21040" y="1965960"/>
            <a:ext cx="3017520" cy="960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4000" b="1">
                <a:solidFill>
                  <a:srgbClr val="1F4E79"/>
                </a:solidFill>
                <a:latin typeface="Calibri"/>
              </a:rPr>
              <a:t>0.65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555"/>
                </a:solidFill>
                <a:latin typeface="Calibri"/>
              </a:rPr>
              <a:t>AUC-ROC no teste de 2025 (validação 2024: 0.66)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92440" y="3246120"/>
            <a:ext cx="3474720" cy="1325880"/>
          </a:xfrm>
          <a:prstGeom prst="roundRect">
            <a:avLst>
              <a:gd name="adj" fmla="val 6000"/>
            </a:avLst>
          </a:prstGeom>
          <a:solidFill>
            <a:srgbClr val="F4F4F6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21040" y="3429000"/>
            <a:ext cx="3017520" cy="960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4000" b="1">
                <a:solidFill>
                  <a:srgbClr val="ED145B"/>
                </a:solidFill>
                <a:latin typeface="Calibri"/>
              </a:rPr>
              <a:t>69%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555"/>
                </a:solidFill>
                <a:latin typeface="Calibri"/>
              </a:rPr>
              <a:t>das crianças não alfabetizadas de 2025 identificadas no ponto de operação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4754880"/>
            <a:ext cx="34747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Calibri"/>
              </a:rPr>
              <a:t>Os microdados não trazem variáveis do aluno; o modelo usa contexto de escola e município. A variante sem as variáveis medidas no dia da prova, para triagem antecipada, fica em AUC 0,64.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382512"/>
            <a:ext cx="10908792" cy="10972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455664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Predição e Inteligência Analítica para Alfabetização  ·  Tech Challenge Fase 3  ·  MBA AI Scientist FIAP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55664"/>
            <a:ext cx="7589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ED145B"/>
                </a:solidFill>
                <a:latin typeface="Calibri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ED145B"/>
                </a:solidFill>
                <a:latin typeface="Calibri"/>
              </a:rPr>
              <a:t>RISCO MUNICIPAL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1A1A"/>
                </a:solidFill>
                <a:latin typeface="Calibri"/>
              </a:rPr>
              <a:t>Modelo de risco municipal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63040"/>
            <a:ext cx="1188720" cy="50292"/>
          </a:xfrm>
          <a:prstGeom prst="rect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4_regressao_niv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152458"/>
            <a:ext cx="7315200" cy="2187323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092440" y="1783080"/>
            <a:ext cx="3474720" cy="3017520"/>
          </a:xfrm>
          <a:prstGeom prst="roundRect">
            <a:avLst>
              <a:gd name="adj" fmla="val 6000"/>
            </a:avLst>
          </a:prstGeom>
          <a:solidFill>
            <a:srgbClr val="F4F4F6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75320" y="1920240"/>
            <a:ext cx="310896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>
                <a:solidFill>
                  <a:srgbClr val="1A1A1A"/>
                </a:solidFill>
                <a:latin typeface="Calibri"/>
              </a:rPr>
              <a:t>Classificador direto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555555"/>
                </a:solidFill>
                <a:latin typeface="Calibri"/>
              </a:rPr>
              <a:t>AUC 0.81 em 2024 e 0.60 em 2025: a regra das metas mudou entre os anos e o classificador não generaliza.</a:t>
            </a:r>
          </a:p>
          <a:p>
            <a:pPr algn="l">
              <a:spcAft>
                <a:spcPts val="500"/>
              </a:spcAft>
            </a:pPr>
            <a:r>
              <a:rPr sz="1300" b="1">
                <a:solidFill>
                  <a:srgbClr val="ED145B"/>
                </a:solidFill>
                <a:latin typeface="Calibri"/>
              </a:rPr>
              <a:t>Regressão do nível + meta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555555"/>
                </a:solidFill>
                <a:latin typeface="Calibri"/>
              </a:rPr>
              <a:t>AUC do risco 0.77 em 2025; ordem dos municípios preservada (Spearman 0.69).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983480"/>
            <a:ext cx="108813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O modelo prevê o percentual de alfabetizados; o risco é a probabilidade de ficar abaixo da meta, calculada com a distribuição dos resíduos. A meta entra depois do aprendizado, e a formulação se mantém quando a regra muda. </a:t>
            </a:r>
            <a:r>
              <a:rPr sz="1400" b="0">
                <a:solidFill>
                  <a:srgbClr val="555555"/>
                </a:solidFill>
                <a:latin typeface="Calibri"/>
              </a:rPr>
              <a:t>O viés de -7 p.p. em 2025 corresponde ao aumento nacional daquele ano, não previsível a partir de 2024; o reajuste anual faz parte do método.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6382512"/>
            <a:ext cx="10908792" cy="10972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55664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Predição e Inteligência Analítica para Alfabetização  ·  Tech Challenge Fase 3  ·  MBA AI Scientist FIAP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89920" y="6455664"/>
            <a:ext cx="7589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ED145B"/>
                </a:solidFill>
                <a:latin typeface="Calibri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ED145B"/>
                </a:solidFill>
                <a:latin typeface="Calibri"/>
              </a:rPr>
              <a:t>APLICAÇÃO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1A1A"/>
                </a:solidFill>
                <a:latin typeface="Calibri"/>
              </a:rPr>
              <a:t>Projeção de risco para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63040"/>
            <a:ext cx="1188720" cy="50292"/>
          </a:xfrm>
          <a:prstGeom prst="rect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6_mapa_ris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281255"/>
            <a:ext cx="7863840" cy="3301329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412480" y="1783080"/>
            <a:ext cx="3154680" cy="1280160"/>
          </a:xfrm>
          <a:prstGeom prst="roundRect">
            <a:avLst>
              <a:gd name="adj" fmla="val 6000"/>
            </a:avLst>
          </a:prstGeom>
          <a:solidFill>
            <a:srgbClr val="F4F4F6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41080" y="1965960"/>
            <a:ext cx="2697480" cy="9143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4000" b="1">
                <a:solidFill>
                  <a:srgbClr val="ED145B"/>
                </a:solidFill>
                <a:latin typeface="Calibri"/>
              </a:rPr>
              <a:t>936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555"/>
                </a:solidFill>
                <a:latin typeface="Calibri"/>
              </a:rPr>
              <a:t>de 5.477 municípios com risco acima de 50% de não atingir a meta de 2026 (incerteza entre anos incluída)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3246120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Calibri"/>
              </a:rPr>
              <a:t>UFs com mais municípios em risco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0" y="3611880"/>
            <a:ext cx="3154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ED145B"/>
                </a:solidFill>
                <a:latin typeface="Calibri"/>
              </a:rPr>
              <a:t>RS  </a:t>
            </a:r>
            <a:r>
              <a:rPr sz="1100" b="0">
                <a:solidFill>
                  <a:srgbClr val="555555"/>
                </a:solidFill>
                <a:latin typeface="Calibri"/>
              </a:rPr>
              <a:t>70% dos municípios, salto mediano de 10 p.p.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0" y="3941064"/>
            <a:ext cx="3154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ED145B"/>
                </a:solidFill>
                <a:latin typeface="Calibri"/>
              </a:rPr>
              <a:t>SP  </a:t>
            </a:r>
            <a:r>
              <a:rPr sz="1100" b="0">
                <a:solidFill>
                  <a:srgbClr val="555555"/>
                </a:solidFill>
                <a:latin typeface="Calibri"/>
              </a:rPr>
              <a:t>42% dos municípios, salto mediano de 2 p.p.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4270248"/>
            <a:ext cx="3154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ED145B"/>
                </a:solidFill>
                <a:latin typeface="Calibri"/>
              </a:rPr>
              <a:t>RJ  </a:t>
            </a:r>
            <a:r>
              <a:rPr sz="1100" b="0">
                <a:solidFill>
                  <a:srgbClr val="555555"/>
                </a:solidFill>
                <a:latin typeface="Calibri"/>
              </a:rPr>
              <a:t>36% dos municípios, salto mediano de 3 p.p.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4599432"/>
            <a:ext cx="3154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ED145B"/>
                </a:solidFill>
                <a:latin typeface="Calibri"/>
              </a:rPr>
              <a:t>RN  </a:t>
            </a:r>
            <a:r>
              <a:rPr sz="1100" b="0">
                <a:solidFill>
                  <a:srgbClr val="555555"/>
                </a:solidFill>
                <a:latin typeface="Calibri"/>
              </a:rPr>
              <a:t>28% dos municípios, salto mediano de 3 p.p.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4928616"/>
            <a:ext cx="3154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ED145B"/>
                </a:solidFill>
                <a:latin typeface="Calibri"/>
              </a:rPr>
              <a:t>AM  </a:t>
            </a:r>
            <a:r>
              <a:rPr sz="1100" b="0">
                <a:solidFill>
                  <a:srgbClr val="555555"/>
                </a:solidFill>
                <a:latin typeface="Calibri"/>
              </a:rPr>
              <a:t>25% dos municípios, salto mediano de 7 p.p.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5440680"/>
            <a:ext cx="3154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No RS a meta foi ancorada no nível de 2023, anterior à queda de 2024; o risco alto reflete a distância para a meta, não a condição das redes. Lista completa em reports/municipios_risco_2026.csv.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6382512"/>
            <a:ext cx="10908792" cy="10972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6455664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Predição e Inteligência Analítica para Alfabetização  ·  Tech Challenge Fase 3  ·  MBA AI Scientist FIAP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89920" y="6455664"/>
            <a:ext cx="7589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ED145B"/>
                </a:solidFill>
                <a:latin typeface="Calibri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ED145B"/>
                </a:solidFill>
                <a:latin typeface="Calibri"/>
              </a:rPr>
              <a:t>PERFIS TERRITORIAIS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1A1A"/>
                </a:solidFill>
                <a:latin typeface="Calibri"/>
              </a:rPr>
              <a:t>Perfis de municípios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63040"/>
            <a:ext cx="1188720" cy="50292"/>
          </a:xfrm>
          <a:prstGeom prst="rect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5_assinatura_perf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461019"/>
            <a:ext cx="7589520" cy="2941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321040" y="1783080"/>
            <a:ext cx="329184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3000" b="1">
                <a:solidFill>
                  <a:srgbClr val="ED145B"/>
                </a:solidFill>
                <a:latin typeface="Calibri"/>
              </a:rPr>
              <a:t>4 perfis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>K-Means com K = 4, escolhido por cotovelo, silhueta e Davies-Bouldin; dois eixos no PCA: fluxo e resultado; porte e renda.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>Os perfis cortam as regiões: o Nordeste tem municípios nos quatro, e o perfil de renda baixa com resultado alto é 82% nordestino.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>Cruzados com o risco de 2026, separam municípios que precisam de intervenção estrutural de municípios com meta ambiciosa e rede consolidada.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382512"/>
            <a:ext cx="10908792" cy="10972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455664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Predição e Inteligência Analítica para Alfabetização  ·  Tech Challenge Fase 3  ·  MBA AI Scientist FIAP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455664"/>
            <a:ext cx="7589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ED145B"/>
                </a:solidFill>
                <a:latin typeface="Calibri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ED145B"/>
                </a:solidFill>
                <a:latin typeface="Calibri"/>
              </a:rPr>
              <a:t>INTERPRETABILIDADE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1A1A"/>
                </a:solidFill>
                <a:latin typeface="Calibri"/>
              </a:rPr>
              <a:t>Interpretabilidade: variáveis mais influentes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63040"/>
            <a:ext cx="1188720" cy="50292"/>
          </a:xfrm>
          <a:prstGeom prst="rect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6_fato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558013"/>
            <a:ext cx="7589520" cy="274781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321040" y="1783080"/>
            <a:ext cx="329184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A1A1A"/>
                </a:solidFill>
                <a:latin typeface="Calibri"/>
              </a:rPr>
              <a:t>Nos dois modelos, em ordem: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A1A1A"/>
                </a:solidFill>
                <a:latin typeface="Calibri"/>
              </a:rPr>
              <a:t>1. % alfabetizados no ano anterior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A1A1A"/>
                </a:solidFill>
                <a:latin typeface="Calibri"/>
              </a:rPr>
              <a:t>2. IDEB anos iniciais (última edição)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A1A1A"/>
                </a:solidFill>
                <a:latin typeface="Calibri"/>
              </a:rPr>
              <a:t>3. UF (estado)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A1A1A"/>
                </a:solidFill>
                <a:latin typeface="Calibri"/>
              </a:rPr>
              <a:t>4. Participação na prova no ano anterior (%)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A1A1A"/>
                </a:solidFill>
                <a:latin typeface="Calibri"/>
              </a:rPr>
              <a:t>5. Salto necessário para a meta (p.p.)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A1A1A"/>
                </a:solidFill>
                <a:latin typeface="Calibri"/>
              </a:rPr>
              <a:t>6. População (Censo 2022)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555555"/>
                </a:solidFill>
                <a:latin typeface="Calibri"/>
              </a:rPr>
              <a:t>SHAP e permutação concordam: histórico da rede, IDEB, UF e presença na prova vêm antes das variáveis de renda.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382512"/>
            <a:ext cx="10908792" cy="10972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455664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Predição e Inteligência Analítica para Alfabetização  ·  Tech Challenge Fase 3  ·  MBA AI Scientist FIAP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455664"/>
            <a:ext cx="7589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ED145B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ED145B"/>
                </a:solidFill>
                <a:latin typeface="Calibri"/>
              </a:rPr>
              <a:t>POLÍTICA PÚBLICA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1A1A"/>
                </a:solidFill>
                <a:latin typeface="Calibri"/>
              </a:rPr>
              <a:t>Aplicação em políticas públicas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63040"/>
            <a:ext cx="1188720" cy="50292"/>
          </a:xfrm>
          <a:prstGeom prst="rect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2560320" cy="3931920"/>
          </a:xfrm>
          <a:prstGeom prst="roundRect">
            <a:avLst>
              <a:gd name="adj" fmla="val 6000"/>
            </a:avLst>
          </a:prstGeom>
          <a:solidFill>
            <a:srgbClr val="F4F4F6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691639" y="2011680"/>
            <a:ext cx="457200" cy="457200"/>
          </a:xfrm>
          <a:prstGeom prst="ellipse">
            <a:avLst/>
          </a:prstGeom>
          <a:solidFill>
            <a:srgbClr val="3B7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2651760"/>
            <a:ext cx="219456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800"/>
              </a:spcAft>
            </a:pPr>
            <a:r>
              <a:rPr sz="1500" b="1">
                <a:solidFill>
                  <a:srgbClr val="1A1A1A"/>
                </a:solidFill>
                <a:latin typeface="Calibri"/>
              </a:rPr>
              <a:t>Triagem anual</a:t>
            </a:r>
          </a:p>
          <a:p>
            <a:pPr algn="ctr">
              <a:spcAft>
                <a:spcPts val="800"/>
              </a:spcAft>
            </a:pPr>
            <a:r>
              <a:rPr sz="1200" b="0">
                <a:solidFill>
                  <a:srgbClr val="555555"/>
                </a:solidFill>
                <a:latin typeface="Calibri"/>
              </a:rPr>
              <a:t>lista de municípios por risco de não atingir a meta, com as variáveis de contexto de cada um, antes do ano letivo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29000" y="1783080"/>
            <a:ext cx="2560320" cy="3931920"/>
          </a:xfrm>
          <a:prstGeom prst="roundRect">
            <a:avLst>
              <a:gd name="adj" fmla="val 6000"/>
            </a:avLst>
          </a:prstGeom>
          <a:solidFill>
            <a:srgbClr val="F4F4F6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480560" y="2011680"/>
            <a:ext cx="457200" cy="457200"/>
          </a:xfrm>
          <a:prstGeom prst="ellipse">
            <a:avLst/>
          </a:prstGeom>
          <a:solidFill>
            <a:srgbClr val="3B7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11880" y="2651760"/>
            <a:ext cx="219456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800"/>
              </a:spcAft>
            </a:pPr>
            <a:r>
              <a:rPr sz="1500" b="1">
                <a:solidFill>
                  <a:srgbClr val="1A1A1A"/>
                </a:solidFill>
                <a:latin typeface="Calibri"/>
              </a:rPr>
              <a:t>Sinais de alerta antecipados</a:t>
            </a:r>
          </a:p>
          <a:p>
            <a:pPr algn="ctr">
              <a:spcAft>
                <a:spcPts val="800"/>
              </a:spcAft>
            </a:pPr>
            <a:r>
              <a:rPr sz="1200" b="0">
                <a:solidFill>
                  <a:srgbClr val="555555"/>
                </a:solidFill>
                <a:latin typeface="Calibri"/>
              </a:rPr>
              <a:t>distorção idade-série, abandono e presença na prova estão disponíveis meses antes do indicador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783080"/>
            <a:ext cx="2560320" cy="3931920"/>
          </a:xfrm>
          <a:prstGeom prst="roundRect">
            <a:avLst>
              <a:gd name="adj" fmla="val 6000"/>
            </a:avLst>
          </a:prstGeom>
          <a:solidFill>
            <a:srgbClr val="F4F4F6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269479" y="2011680"/>
            <a:ext cx="457200" cy="457200"/>
          </a:xfrm>
          <a:prstGeom prst="ellipse">
            <a:avLst/>
          </a:prstGeom>
          <a:solidFill>
            <a:srgbClr val="3B7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651760"/>
            <a:ext cx="219456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800"/>
              </a:spcAft>
            </a:pPr>
            <a:r>
              <a:rPr sz="1500" b="1">
                <a:solidFill>
                  <a:srgbClr val="1A1A1A"/>
                </a:solidFill>
                <a:latin typeface="Calibri"/>
              </a:rPr>
              <a:t>Estratégia por perfil</a:t>
            </a:r>
          </a:p>
          <a:p>
            <a:pPr algn="ctr">
              <a:spcAft>
                <a:spcPts val="800"/>
              </a:spcAft>
            </a:pPr>
            <a:r>
              <a:rPr sz="1200" b="0">
                <a:solidFill>
                  <a:srgbClr val="555555"/>
                </a:solidFill>
                <a:latin typeface="Calibri"/>
              </a:rPr>
              <a:t>mesma intervenção para municípios do mesmo perfil, independente da região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06839" y="1783080"/>
            <a:ext cx="2560320" cy="3931920"/>
          </a:xfrm>
          <a:prstGeom prst="roundRect">
            <a:avLst>
              <a:gd name="adj" fmla="val 6000"/>
            </a:avLst>
          </a:prstGeom>
          <a:solidFill>
            <a:srgbClr val="F4F4F6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058399" y="2011680"/>
            <a:ext cx="457200" cy="457200"/>
          </a:xfrm>
          <a:prstGeom prst="ellipse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89719" y="2651760"/>
            <a:ext cx="219456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800"/>
              </a:spcAft>
            </a:pPr>
            <a:r>
              <a:rPr sz="1500" b="1">
                <a:solidFill>
                  <a:srgbClr val="1A1A1A"/>
                </a:solidFill>
                <a:latin typeface="Calibri"/>
              </a:rPr>
              <a:t>Limites</a:t>
            </a:r>
          </a:p>
          <a:p>
            <a:pPr algn="ctr">
              <a:spcAft>
                <a:spcPts val="800"/>
              </a:spcAft>
            </a:pPr>
            <a:r>
              <a:rPr sz="1200" b="0">
                <a:solidFill>
                  <a:srgbClr val="555555"/>
                </a:solidFill>
                <a:latin typeface="Calibri"/>
              </a:rPr>
              <a:t>modelo preditivo, não causal; não antecipa choques; reajuste a cada ciclo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6382512"/>
            <a:ext cx="10908792" cy="10972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6455664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Predição e Inteligência Analítica para Alfabetização  ·  Tech Challenge Fase 3  ·  MBA AI Scientist FIAP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89920" y="6455664"/>
            <a:ext cx="7589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ED145B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92608" cy="6858000"/>
          </a:xfrm>
          <a:prstGeom prst="rect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ED145B"/>
                </a:solidFill>
                <a:latin typeface="Calibri"/>
              </a:rPr>
              <a:t>FECHAMENTO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>
                <a:solidFill>
                  <a:srgbClr val="1A1A1A"/>
                </a:solidFill>
                <a:latin typeface="Calibri"/>
              </a:rPr>
              <a:t>Conclusão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834640"/>
            <a:ext cx="1033272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 b="0">
                <a:solidFill>
                  <a:srgbClr val="1A1A1A"/>
                </a:solidFill>
                <a:latin typeface="Calibri"/>
              </a:rPr>
              <a:t>Gold recomposta com dado real, pipeline reproduzível, dois modelos validados em teste temporal, perfis de município e explicações com rótulos de negócio.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555555"/>
                </a:solidFill>
                <a:latin typeface="Calibri"/>
              </a:rPr>
              <a:t>Próximos passos: variáveis do aluno e da escola (Censo Escolar por escola), avaliação causal de programas de alfabetização e reajuste anual automatizado com o dado novo.</a:t>
            </a:r>
          </a:p>
        </p:txBody>
      </p:sp>
      <p:sp>
        <p:nvSpPr>
          <p:cNvPr id="7" name="Rectangle 6"/>
          <p:cNvSpPr/>
          <p:nvPr/>
        </p:nvSpPr>
        <p:spPr>
          <a:xfrm>
            <a:off x="886968" y="5166360"/>
            <a:ext cx="1371600" cy="50292"/>
          </a:xfrm>
          <a:prstGeom prst="rect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github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5449824"/>
            <a:ext cx="237744" cy="2377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216152" y="5431536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Calibri"/>
              </a:rPr>
              <a:t>github.com/guillecosme/fiap-ai-scientist-tech-challenge-fase-03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5797296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ED145B"/>
                </a:solidFill>
                <a:latin typeface="Calibri"/>
              </a:rPr>
              <a:t>Vídeo executivo (5 min): </a:t>
            </a:r>
            <a:r>
              <a:rPr sz="1200" b="0">
                <a:solidFill>
                  <a:srgbClr val="555555"/>
                </a:solidFill>
                <a:latin typeface="Calibri"/>
              </a:rPr>
              <a:t>(link do vídeo)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6163056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Calibri"/>
              </a:rPr>
              <a:t>Guilherme Cosme  ·  RM 372204  ·  MBA AI Scientist  ·  FIAP / POSTECH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