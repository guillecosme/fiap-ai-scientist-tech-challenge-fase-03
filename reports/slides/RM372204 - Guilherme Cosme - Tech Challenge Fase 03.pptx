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402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TECH CHALLENGE   ·   FASE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0604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Predição e Inteligência Analítica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461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1A1A1A"/>
                </a:solidFill>
                <a:latin typeface="Calibri"/>
              </a:rPr>
              <a:t>para Alfabetização no Brasil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16052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555555"/>
                </a:solidFill>
                <a:latin typeface="Calibri"/>
              </a:rPr>
              <a:t>Modelos preditivos sobre a camada Gold do Indicador Criança Alfabetizada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484632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50749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Guilherme Cosme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44068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  <a:latin typeface="Calibri"/>
              </a:rPr>
              <a:t>RM 372204   ·   Turma 1IAST   ·   MBA AI Scientist   ·   FIAP / POSTECH</a:t>
            </a:r>
          </a:p>
        </p:txBody>
      </p:sp>
      <p:pic>
        <p:nvPicPr>
          <p:cNvPr id="11" name="Picture 10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907024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6152" y="58887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6236208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CONTEXTO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Contexto e problema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37360"/>
            <a:ext cx="63093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Criança Alfabetizada mede, a cada ano, o percentual de alunos do 2º ano que atingem o nível de leitura e escrita esperado, por município, com metas anuais até 2030.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O indicador é conhecido depois da prova. A gestão precisa saber antes quais municípios tendem a ficar abaixo da meta, quais fatores estão associados ao resultado e onde concentrar apoio.</a:t>
            </a:r>
          </a:p>
          <a:p>
            <a:pPr algn="l">
              <a:spcAft>
                <a:spcPts val="1300"/>
              </a:spcAft>
            </a:pPr>
            <a:r>
              <a:rPr sz="1600" b="0">
                <a:solidFill>
                  <a:srgbClr val="1A1A1A"/>
                </a:solidFill>
                <a:latin typeface="Calibri"/>
              </a:rPr>
              <a:t>Esta fase usa a camada Gold da Fase 2, agora com dado real do Inep e do IBGE, para treinar modelos que respondem a essas perguntas.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96596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56% → 66%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crianças alfabetizadas no 2º ano, 2023 a 2025 (Brasil, rede pública)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329184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3800" y="347472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80%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meta nacional para 2030, com metas anuais por município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0" y="480060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4983480"/>
            <a:ext cx="374903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A1A1A"/>
                </a:solidFill>
                <a:latin typeface="Calibri"/>
              </a:rPr>
              <a:t>743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pontos na escala Saeb: o corte que define uma criança alfabetizada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Base de dados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Indicador e metas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Inep: resultado por município 2023 a 2025 e metas anuais até 2030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Microdados por aluno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4,3 milhões de alunos avaliados em 2024 e 2025, com rede, escola e proficiência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Contexto educacional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Censo Escolar (docentes, turmas, distorção), rendimento, IDEB 2005 a 2025, INSE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237744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06040"/>
            <a:ext cx="21945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1">
                <a:solidFill>
                  <a:srgbClr val="1A1A1A"/>
                </a:solidFill>
                <a:latin typeface="Calibri"/>
              </a:rPr>
              <a:t>Território e renda</a:t>
            </a:r>
          </a:p>
          <a:p>
            <a:pPr algn="ctr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IBGE: população, densidade, PIB e composição da economia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43484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Mesmo contrato de esquema da Fase 2, tabelas recompostas com as fontes públicas e uma tabela nova no grão de aluno. Nenhuma fonte exige credencial; downloads conferidos por hash.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1A1A"/>
                </a:solidFill>
                <a:latin typeface="Calibri"/>
              </a:rPr>
              <a:t>Alinhamento temporal: para prever o ano t só entram variáveis conhecidas antes da prova (Censo Escolar de t, rendimento e IDEB de t-1, resultado de t-1, meta de 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ANÁLISE EXPLORATÓRIA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Análise exploratória: principais achados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indicador_por_u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74916"/>
            <a:ext cx="6675120" cy="25140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6640" y="1783080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1920240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A UF explica um terço da variação entre municípios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 região explica 6%. Gestão estadual e instrumento de avaliação pesam mais do que geografia.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3264408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3401568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Fluxo escolar tem correlação maior que renda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abandono, reprovação e distorção idade-série: -0,35 a -0,39; INSE e PIB per capita: abaixo de 0,10.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4745736"/>
            <a:ext cx="4206240" cy="13716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0" y="4882896"/>
            <a:ext cx="384048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1">
                <a:solidFill>
                  <a:srgbClr val="1A1A1A"/>
                </a:solidFill>
                <a:latin typeface="Calibri"/>
              </a:rPr>
              <a:t>85% da variância do alvo está dentro da escola</a:t>
            </a:r>
          </a:p>
          <a:p>
            <a:pPr algn="l">
              <a:spcAft>
                <a:spcPts val="3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sem variáveis do aluno, o modelo ordena escolas e redes; não classifica crianças individualmente.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Pipeline de modelagem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Preprocessamento integrado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imputação pela mediana, log nas variáveis de porte e renda, escalonamento e one-hot, tudo dentro do pipeline e ajustado só no treino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Validação por município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folds que separam municípios inteiros; busca aleatória de hiperparâmetros em logística, random forest e gradient boosting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Teste temporal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treino em 2024, teste em 2025 aberto uma única vez; curvas de aprendizado e ablação por bloco de variáveis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Ponto de operação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limiar definido por um critério de política: recall mínimo de 70% da classe de risco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MODELO DO ALUNO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do aluno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teste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838749"/>
            <a:ext cx="7315200" cy="21863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1F4E79"/>
                </a:solidFill>
                <a:latin typeface="Calibri"/>
              </a:rPr>
              <a:t>0,65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AUC-ROC no teste de 2025 (validação 2024: 0,66)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92440" y="3246120"/>
            <a:ext cx="3474720" cy="132588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3429000"/>
            <a:ext cx="3017520" cy="9601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69%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das crianças não alfabetizadas de 2025 identificadas no ponto de operação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754880"/>
            <a:ext cx="3474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Os microdados não trazem variáveis do aluno; o modelo usa contexto de escola e município. A variante sem as variáveis medidas no dia da prova, para triagem antecipada, fica em AUC 0,64.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RISCO MUNICIPAL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Modelo de risco municipal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4_regressao_niv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2458"/>
            <a:ext cx="7315200" cy="2187323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783080"/>
            <a:ext cx="3474720" cy="30175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1920240"/>
            <a:ext cx="310896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Classificador direto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0,81 em 2024 e 0,60 em 2025: a regra das metas mudou entre os anos e o classificador não generaliza.</a:t>
            </a:r>
          </a:p>
          <a:p>
            <a:pPr algn="l">
              <a:spcAft>
                <a:spcPts val="500"/>
              </a:spcAft>
            </a:pPr>
            <a:r>
              <a:rPr sz="1300" b="1">
                <a:solidFill>
                  <a:srgbClr val="ED145B"/>
                </a:solidFill>
                <a:latin typeface="Calibri"/>
              </a:rPr>
              <a:t>Regressão do nível + 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555555"/>
                </a:solidFill>
                <a:latin typeface="Calibri"/>
              </a:rPr>
              <a:t>AUC do risco 0,77 em 2025; ordem dos municípios preservada (Spearman 0,69).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983480"/>
            <a:ext cx="1088136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 modelo prevê o percentual de alfabetizados; o risco é a probabilidade de ficar abaixo da meta, calculada com a distribuição dos resíduos. A meta entra depois do aprendizado, e a formulação se mantém quando a regra muda. </a:t>
            </a:r>
            <a:r>
              <a:rPr sz="1400" b="0">
                <a:solidFill>
                  <a:srgbClr val="555555"/>
                </a:solidFill>
                <a:latin typeface="Calibri"/>
              </a:rPr>
              <a:t>O viés de -7 p.p. em 2025 corresponde ao aumento nacional daquele ano, não previsível a partir de 2024; o reajuste anual faz parte do método.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APLICAÇÃO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Projeção de risco para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mapa_ris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281255"/>
            <a:ext cx="7863840" cy="33013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412480" y="1783080"/>
            <a:ext cx="3154680" cy="160020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1080" y="1965960"/>
            <a:ext cx="269748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4000" b="1">
                <a:solidFill>
                  <a:srgbClr val="ED145B"/>
                </a:solidFill>
                <a:latin typeface="Calibri"/>
              </a:rPr>
              <a:t>936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de 5.477 municípios com risco acima de 50% de não atingir a meta de 2026, já com a incerteza entre anos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3566160"/>
            <a:ext cx="3154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UFs com mais municípios em risco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840480"/>
            <a:ext cx="3154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% dos municípios da UF e salto mediano até a meta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411480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RS   </a:t>
            </a:r>
            <a:r>
              <a:rPr sz="1100" b="0">
                <a:solidFill>
                  <a:srgbClr val="555555"/>
                </a:solidFill>
                <a:latin typeface="Calibri"/>
              </a:rPr>
              <a:t>70% em risco, salto de 10 p.p.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38912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SP   </a:t>
            </a:r>
            <a:r>
              <a:rPr sz="1100" b="0">
                <a:solidFill>
                  <a:srgbClr val="555555"/>
                </a:solidFill>
                <a:latin typeface="Calibri"/>
              </a:rPr>
              <a:t>42% em risco, salto de 2 p.p.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4663440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RJ   </a:t>
            </a:r>
            <a:r>
              <a:rPr sz="1100" b="0">
                <a:solidFill>
                  <a:srgbClr val="555555"/>
                </a:solidFill>
                <a:latin typeface="Calibri"/>
              </a:rPr>
              <a:t>36% em risco, salto de 3 p.p.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493775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RN   </a:t>
            </a:r>
            <a:r>
              <a:rPr sz="1100" b="0">
                <a:solidFill>
                  <a:srgbClr val="555555"/>
                </a:solidFill>
                <a:latin typeface="Calibri"/>
              </a:rPr>
              <a:t>28% em risco, salto de 3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5212079"/>
            <a:ext cx="3154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AM   </a:t>
            </a:r>
            <a:r>
              <a:rPr sz="1100" b="0">
                <a:solidFill>
                  <a:srgbClr val="555555"/>
                </a:solidFill>
                <a:latin typeface="Calibri"/>
              </a:rPr>
              <a:t>25% em risco, salto de 7 p.p.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5532120"/>
            <a:ext cx="3154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No RS a meta foi ancorada no nível de 2023, anterior à queda de 2024: o risco alto mede a distância até a meta, não a condição das redes. Lista completa em reports/municipios_risco_2026.csv.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PERFIS TERRITORIAIS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Perfis de municípios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5_assinatura_perf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13685"/>
            <a:ext cx="7589520" cy="32364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3000" b="1">
                <a:solidFill>
                  <a:srgbClr val="ED145B"/>
                </a:solidFill>
                <a:latin typeface="Calibri"/>
              </a:rPr>
              <a:t>4 perfis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K-Means com K = 4, escolhido por cotovelo, silhueta e Davies-Bouldin; dois eixos no PCA: fluxo e resultado; porte e renda.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Os perfis cortam as regiões: o Nordeste tem municípios nos quatro, e o perfil de renda baixa com resultado alto é 82% nordestino.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1A1A1A"/>
                </a:solidFill>
                <a:latin typeface="Calibri"/>
              </a:rPr>
              <a:t>Cruzados com o risco de 2026, separam municípios que precisam de intervenção estrutural de municípios com meta ambiciosa e rede consolidada.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INTERPRETABILIDADE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Interpretabilidade: variáveis mais influentes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6_fa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45318"/>
            <a:ext cx="7589520" cy="257320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21040" y="1783080"/>
            <a:ext cx="32918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>
                <a:solidFill>
                  <a:srgbClr val="1A1A1A"/>
                </a:solidFill>
                <a:latin typeface="Calibri"/>
              </a:rPr>
              <a:t>Modelo do município, em ordem: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1. % alfabetizados no ano anterior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2. IDEB anos iniciais (última edição)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3. UF (estado)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4. Participação na prova no ano anterior (%)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5. Salto necessário para a meta (p.p.)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1A1A1A"/>
                </a:solidFill>
                <a:latin typeface="Calibri"/>
              </a:rPr>
              <a:t>6. População (Censo 2022)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No modelo do aluno o histórico da rede também vem primeiro; depois salto para a meta, presença na prova e IDEB. Nos dois, as variáveis de renda ficam atrás das que a gestão da rede acompanha.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ED145B"/>
                </a:solidFill>
                <a:latin typeface="Calibri"/>
              </a:rPr>
              <a:t>POLÍTICA PÚBLICA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1A1A"/>
                </a:solidFill>
                <a:latin typeface="Calibri"/>
              </a:rPr>
              <a:t>Aplicação em políticas públicas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63040"/>
            <a:ext cx="118872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69163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Triagem anual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lista de municípios por risco de não atingir a meta, com as variáveis de contexto de cada um, antes do ano letivo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480560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Sinais de alerta antecipados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distorção idade-série, abandono e presença na prova estão disponíveis meses antes do indicador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269479" y="2011680"/>
            <a:ext cx="457200" cy="457200"/>
          </a:xfrm>
          <a:prstGeom prst="ellipse">
            <a:avLst/>
          </a:prstGeom>
          <a:solidFill>
            <a:srgbClr val="3B7A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Estratégia por perfil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mesma intervenção para municípios do mesmo perfil, independente da região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1783080"/>
            <a:ext cx="2560320" cy="3931920"/>
          </a:xfrm>
          <a:prstGeom prst="roundRect">
            <a:avLst>
              <a:gd name="adj" fmla="val 6000"/>
            </a:avLst>
          </a:prstGeom>
          <a:solidFill>
            <a:srgbClr val="F4F4F6"/>
          </a:solidFill>
          <a:ln w="12700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0058399" y="2011680"/>
            <a:ext cx="457200" cy="457200"/>
          </a:xfrm>
          <a:prstGeom prst="ellipse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19" y="2651760"/>
            <a:ext cx="219456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1A1A1A"/>
                </a:solidFill>
                <a:latin typeface="Calibri"/>
              </a:rPr>
              <a:t>Limites</a:t>
            </a:r>
          </a:p>
          <a:p>
            <a:pPr algn="ctr">
              <a:spcAft>
                <a:spcPts val="800"/>
              </a:spcAft>
            </a:pPr>
            <a:r>
              <a:rPr sz="1200" b="0">
                <a:solidFill>
                  <a:srgbClr val="555555"/>
                </a:solidFill>
                <a:latin typeface="Calibri"/>
              </a:rPr>
              <a:t>modelo preditivo, não causal; não antecipa choques; reajuste a cada ciclo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82512"/>
            <a:ext cx="10908792" cy="10972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9601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55555"/>
                </a:solidFill>
                <a:latin typeface="Calibri"/>
              </a:rPr>
              <a:t>Predição e Inteligência Analítica para Alfabetização  ·  Tech Challenge Fase 3  ·  MBA AI Scientist FIAP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0" y="6455664"/>
            <a:ext cx="758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ED145B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92608" cy="6858000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630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ED145B"/>
                </a:solidFill>
                <a:latin typeface="Calibri"/>
              </a:rPr>
              <a:t>FECHAMENTO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>
                <a:solidFill>
                  <a:srgbClr val="1A1A1A"/>
                </a:solidFill>
                <a:latin typeface="Calibri"/>
              </a:rPr>
              <a:t>Conclusão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34640"/>
            <a:ext cx="1033272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1A1A1A"/>
                </a:solidFill>
                <a:latin typeface="Calibri"/>
              </a:rPr>
              <a:t>Gold recomposta com dado real, pipeline reproduzível, dois modelos validados em teste temporal, perfis de município e explicações com rótulos de negócio.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555555"/>
                </a:solidFill>
                <a:latin typeface="Calibri"/>
              </a:rPr>
              <a:t>Próximos passos: variáveis do aluno e da escola (Censo Escolar por escola), avaliação causal de programas de alfabetização e reajuste anual automatizado com o dado novo.</a:t>
            </a:r>
          </a:p>
        </p:txBody>
      </p:sp>
      <p:sp>
        <p:nvSpPr>
          <p:cNvPr id="7" name="Rectangle 6"/>
          <p:cNvSpPr/>
          <p:nvPr/>
        </p:nvSpPr>
        <p:spPr>
          <a:xfrm>
            <a:off x="886968" y="5166360"/>
            <a:ext cx="1371600" cy="50292"/>
          </a:xfrm>
          <a:prstGeom prst="rect">
            <a:avLst/>
          </a:prstGeom>
          <a:solidFill>
            <a:srgbClr val="ED14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github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5449824"/>
            <a:ext cx="237744" cy="2377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216152" y="543153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github.com/guillecosme/fiap-ai-scientist-tech-challenge-fase-03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79729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D145B"/>
                </a:solidFill>
                <a:latin typeface="Calibri"/>
              </a:rPr>
              <a:t>Vídeo executivo (5 min): </a:t>
            </a:r>
            <a:r>
              <a:rPr sz="1200" b="0">
                <a:solidFill>
                  <a:srgbClr val="555555"/>
                </a:solidFill>
                <a:latin typeface="Calibri"/>
              </a:rPr>
              <a:t>(link do vídeo)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163056"/>
            <a:ext cx="100584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  <a:latin typeface="Calibri"/>
              </a:rPr>
              <a:t>Guilherme Cosme  ·  RM 372204  ·  MBA AI Scientist  ·  FIAP / POSTECH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