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240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D145B"/>
                </a:solidFill>
                <a:latin typeface="Calibri"/>
              </a:rPr>
              <a:t>TECH CHALLENGE   ·   FASE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Calibri"/>
              </a:rPr>
              <a:t>Predição e Inteligência Analítica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Calibri"/>
              </a:rPr>
              <a:t>para Alfabetização no Brasil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16052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Modelos preditivos sobre a camada Gold do Indicador Criança Alfabetizada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4846320"/>
            <a:ext cx="137160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074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Guilherme Cosme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440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RM 372204   ·   Turma 1IAST   ·   MBA AI Scientist   ·   FIAP / POSTECH</a:t>
            </a:r>
          </a:p>
        </p:txBody>
      </p:sp>
      <p:pic>
        <p:nvPicPr>
          <p:cNvPr id="11" name="Picture 10" descr="github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907024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6152" y="588873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github.com/guillecosme/fiap-ai-scientist-tech-challenge-fase-03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23620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45B"/>
                </a:solidFill>
                <a:latin typeface="Calibri"/>
              </a:rPr>
              <a:t>Vídeo executivo (5 min): </a:t>
            </a:r>
            <a:r>
              <a:rPr sz="1200" b="0">
                <a:solidFill>
                  <a:srgbClr val="555555"/>
                </a:solidFill>
                <a:latin typeface="Calibri"/>
              </a:rPr>
              <a:t>https://www.loom.com/share/447ba58dab7f4fd8ae69ce14f2f96847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Contexto e problema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6309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O Indicador Criança Alfabetizada mede, a cada ano, o percentual de alunos do 2º ano que atingem o nível de leitura e escrita esperado, por município, com metas anuais até 2030.</a:t>
            </a:r>
          </a:p>
          <a:p>
            <a:pPr algn="l">
              <a:spcAft>
                <a:spcPts val="1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O indicador é conhecido depois da prova. A gestão precisa saber antes quais municípios tendem a ficar abaixo da meta, quais fatores estão associados ao resultado e onde concentrar apoio.</a:t>
            </a:r>
          </a:p>
          <a:p>
            <a:pPr algn="l">
              <a:spcAft>
                <a:spcPts val="1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Esta fase usa a camada Gold da Fase 2, agora com dado real do Inep e do IBGE, para treinar modelos que respondem a essas perguntas.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783080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965960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1A1A1A"/>
                </a:solidFill>
                <a:latin typeface="Calibri"/>
              </a:rPr>
              <a:t>56% → 66%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crianças alfabetizadas no 2º ano, 2023 a 2025 (Brasil, rede pública)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291840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3474720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ED145B"/>
                </a:solidFill>
                <a:latin typeface="Calibri"/>
              </a:rPr>
              <a:t>80%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meta nacional para 2030, com metas anuais por município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800600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4983480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1A1A1A"/>
                </a:solidFill>
                <a:latin typeface="Calibri"/>
              </a:rPr>
              <a:t>743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pontos na escala Saeb: o corte que define uma criança alfabetizada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Predição e Inteligência Analítica para Alfabetização  ·  Tech Challenge Fase 3  ·  MBA AI Scientist FIAP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BASE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Base de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39" y="201168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0604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Indicador e metas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Inep: resultado por município 2023 a 2025 e metas anuais até 2030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8308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2011680"/>
            <a:ext cx="457200" cy="45720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0604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Microdados por aluno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4,3 milhões de alunos avaliados em 2024 e 2025, com rede, escola e proficiência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69479" y="201168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0604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Contexto educacional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Censo Escolar (docentes, turmas, distorção), rendimento, IDEB 2005 a 2025, INSE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783080"/>
            <a:ext cx="2560320" cy="237744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399" y="2011680"/>
            <a:ext cx="457200" cy="45720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260604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Território e renda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IBGE: população, densidade, PIB e composição da economia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3484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Mesmo contrato de esquema da Fase 2, tabelas recompostas com as fontes públicas e uma tabela nova no grão de aluno. Nenhuma fonte exige credencial; downloads conferidos por hash.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Alinhamento temporal: para prever o ano t só entram variáveis conhecidas antes da prova (Censo Escolar de t, rendimento e IDEB de t-1, resultado de t-1, meta de t).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556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Predição e Inteligência Analítica para Alfabetização  ·  Tech Challenge Fase 3  ·  MBA AI Scientist FIAP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ANÁLISE EXPLORATÓRIA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Análise exploratória: principais achados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indicador_por_u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74916"/>
            <a:ext cx="6675120" cy="251400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06640" y="1783080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920240"/>
            <a:ext cx="38404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A UF explica um terço da variação entre municípios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a região explica 6%. Gestão estadual e instrumento de avaliação pesam mais do que geografia.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264408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3401568"/>
            <a:ext cx="38404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Fluxo escolar tem correlação maior que renda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abandono, reprovação e distorção idade-série: -0,35 a -0,39; INSE e PIB per capita: abaixo de 0,10.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4745736"/>
            <a:ext cx="4206240" cy="13716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4882896"/>
            <a:ext cx="38404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85% da variância do alvo está dentro da escola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sem variáveis do aluno, o modelo ordena escolas e redes; não classifica crianças individualmente.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Predição e Inteligência Analítica para Alfabetização  ·  Tech Challenge Fase 3  ·  MBA AI Scientist FIAP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Pipeline de modelagem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560320" cy="393192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39" y="2011680"/>
            <a:ext cx="457200" cy="45720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51760"/>
            <a:ext cx="2194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Preprocessamento integrado</a:t>
            </a:r>
          </a:p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imputação pela mediana, log nas variáveis de porte e renda, escalonamento e one-hot, tudo dentro do pipeline e ajustado só no treino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83080"/>
            <a:ext cx="2560320" cy="393192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2011680"/>
            <a:ext cx="457200" cy="45720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51760"/>
            <a:ext cx="2194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Validação por município</a:t>
            </a:r>
          </a:p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folds que separam municípios inteiros; busca aleatória de hiperparâmetros em logística, random forest e gradient boosting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2560320" cy="393192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69479" y="2011680"/>
            <a:ext cx="457200" cy="45720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2194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Teste temporal</a:t>
            </a:r>
          </a:p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treino em 2024, teste em 2025 aberto uma única vez; curvas de aprendizado e ablação por bloco de variáveis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783080"/>
            <a:ext cx="2560320" cy="393192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399" y="2011680"/>
            <a:ext cx="457200" cy="45720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2651760"/>
            <a:ext cx="2194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Ponto de operação</a:t>
            </a:r>
          </a:p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limiar definido por um critério de política: recall mínimo de 70% da classe de risco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556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Predição e Inteligência Analítica para Alfabetização  ·  Tech Challenge Fase 3  ·  MBA AI Scientist FIAP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MODELO DO ALUNO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Modelo do aluno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teste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38749"/>
            <a:ext cx="7315200" cy="21863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92440" y="1783080"/>
            <a:ext cx="3474720" cy="132588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965960"/>
            <a:ext cx="30175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1F4E79"/>
                </a:solidFill>
                <a:latin typeface="Calibri"/>
              </a:rPr>
              <a:t>0,65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AUC-ROC no teste de 2025, IC 95% 0,638 a 0,656 (validação 2024: 0,66)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3246120"/>
            <a:ext cx="3474720" cy="132588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3429000"/>
            <a:ext cx="301752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ED145B"/>
                </a:solidFill>
                <a:latin typeface="Calibri"/>
              </a:rPr>
              <a:t>69%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das crianças não alfabetizadas de 2025 identificadas no ponto de operação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754880"/>
            <a:ext cx="3474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Os microdados não trazem variáveis do aluno; o modelo usa contexto de escola e município. A variante sem as variáveis medidas no dia da prova, para triagem antecipada, fica em AUC 0,64.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Predição e Inteligência Analítica para Alfabetização  ·  Tech Challenge Fase 3  ·  MBA AI Scientist FIAP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RISCO MUNICIPAL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Modelo de risco municipal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regressao_ni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52458"/>
            <a:ext cx="7315200" cy="218732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92440" y="1691640"/>
            <a:ext cx="3474720" cy="32004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801368"/>
            <a:ext cx="31089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Classificador direto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AUC 0,81 em 2024 e 0,60 em 2025: a regra das metas mudou entre os anos e o classificador não generaliza.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ED145B"/>
                </a:solidFill>
                <a:latin typeface="Calibri"/>
              </a:rPr>
              <a:t>Regressão do nível + meta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AUC do risco 0,77 em 2025 (IC 95% 0,758 a 0,785); ordem dos municípios preservada (Spearman 0,69).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Testes de robustez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Alvo embaralhado vai ao nível da média; ganho sobre a regra "quanto falta para a meta" de +0,029 de AUC, IC que não cruza zero; em estado nunca visto a ordem se mantém e o patamar erra.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8348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 modelo prevê o percentual de alfabetizados; o risco é a probabilidade de ficar abaixo da meta, calculada com a distribuição dos resíduos. A meta entra depois do aprendizado, e a formulação se mantém quando a regra muda. </a:t>
            </a:r>
            <a:r>
              <a:rPr sz="1400" b="0">
                <a:solidFill>
                  <a:srgbClr val="555555"/>
                </a:solidFill>
                <a:latin typeface="Calibri"/>
              </a:rPr>
              <a:t>O viés de -7 p.p. em 2025 corresponde ao aumento nacional daquele ano, não previsível a partir de 2024; é ele que infla o risco no backtest (Brier 0,243, contra 0,189 com o efeito ano) e entra na incerteza de 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Predição e Inteligência Analítica para Alfabetização  ·  Tech Challenge Fase 3  ·  MBA AI Scientist FIAP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APLICAÇÃO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Projeção de risco para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mapa_ris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1255"/>
            <a:ext cx="7863840" cy="33013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783080"/>
            <a:ext cx="3154680" cy="16002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965960"/>
            <a:ext cx="26974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ED145B"/>
                </a:solidFill>
                <a:latin typeface="Calibri"/>
              </a:rPr>
              <a:t>936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de 5.477 municípios com risco acima de 50% de não atingir a meta de 2026, já com a incerteza entre anos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56616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UFs com mais municípios em risco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84048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% dos municípios da UF e salto mediano até a meta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114800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45B"/>
                </a:solidFill>
                <a:latin typeface="Calibri"/>
              </a:rPr>
              <a:t>RS   </a:t>
            </a:r>
            <a:r>
              <a:rPr sz="1100" b="0">
                <a:solidFill>
                  <a:srgbClr val="555555"/>
                </a:solidFill>
                <a:latin typeface="Calibri"/>
              </a:rPr>
              <a:t>70% em risco, salto de 10 p.p.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389120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45B"/>
                </a:solidFill>
                <a:latin typeface="Calibri"/>
              </a:rPr>
              <a:t>SP   </a:t>
            </a:r>
            <a:r>
              <a:rPr sz="1100" b="0">
                <a:solidFill>
                  <a:srgbClr val="555555"/>
                </a:solidFill>
                <a:latin typeface="Calibri"/>
              </a:rPr>
              <a:t>42% em risco, salto de 2 p.p.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663440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45B"/>
                </a:solidFill>
                <a:latin typeface="Calibri"/>
              </a:rPr>
              <a:t>RJ   </a:t>
            </a:r>
            <a:r>
              <a:rPr sz="1100" b="0">
                <a:solidFill>
                  <a:srgbClr val="555555"/>
                </a:solidFill>
                <a:latin typeface="Calibri"/>
              </a:rPr>
              <a:t>36% em risco, salto de 3 p.p.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937759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45B"/>
                </a:solidFill>
                <a:latin typeface="Calibri"/>
              </a:rPr>
              <a:t>RN   </a:t>
            </a:r>
            <a:r>
              <a:rPr sz="1100" b="0">
                <a:solidFill>
                  <a:srgbClr val="555555"/>
                </a:solidFill>
                <a:latin typeface="Calibri"/>
              </a:rPr>
              <a:t>28% em risco, salto de 3 p.p.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5212079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45B"/>
                </a:solidFill>
                <a:latin typeface="Calibri"/>
              </a:rPr>
              <a:t>AM   </a:t>
            </a:r>
            <a:r>
              <a:rPr sz="1100" b="0">
                <a:solidFill>
                  <a:srgbClr val="555555"/>
                </a:solidFill>
                <a:latin typeface="Calibri"/>
              </a:rPr>
              <a:t>25% em risco, salto de 7 p.p.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53212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No RS a meta foi ancorada no nível de 2023, anterior à queda de 2024: o risco alto mede a distância até a meta, não a condição das redes. Lista completa em reports/municipios_risco_2026.csv.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556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Predição e Inteligência Analítica para Alfabetização  ·  Tech Challenge Fase 3  ·  MBA AI Scientist FIAP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PERFIS TERRITORIAIS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Perfis de municípios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assinatura_perf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13685"/>
            <a:ext cx="7589520" cy="32364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1783080"/>
            <a:ext cx="32918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ED145B"/>
                </a:solidFill>
                <a:latin typeface="Calibri"/>
              </a:rPr>
              <a:t>4 perfis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K-Means com K = 4, escolhido por cotovelo, silhueta e Davies-Bouldin; dois eixos no PCA: fluxo e resultado; porte e renda.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Os perfis cortam as regiões: o Nordeste tem municípios nos quatro, e o perfil de renda baixa com resultado alto é 82% nordestino.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Cruzados com o risco de 2026, separam municípios que precisam de intervenção estrutural de municípios com meta ambiciosa e rede consolidada.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Predição e Inteligência Analítica para Alfabetização  ·  Tech Challenge Fase 3  ·  MBA AI Scientist FIAP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INTERPRETABILIDADE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Interpretabilidade: variáveis mais influentes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fat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45318"/>
            <a:ext cx="7589520" cy="25732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1783080"/>
            <a:ext cx="32918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Modelo do município, em ordem: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1. % alfabetizados no ano anterior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2. IDEB anos iniciais (última edição)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3. UF (estado)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4. Participação na prova no ano anterior (%)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5. Salto necessário para a meta (p.p.)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6. População (Censo 2022)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No modelo do aluno o histórico da rede também vem primeiro; depois salto para a meta, presença na prova e IDEB. Nos dois, as variáveis de renda ficam atrás das que a gestão da rede acompanha.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Predição e Inteligência Analítica para Alfabetização  ·  Tech Challenge Fase 3  ·  MBA AI Scientist FIAP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POLÍTICA PÚBLICA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Aplicação em políticas públicas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560320" cy="393192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39" y="2011680"/>
            <a:ext cx="457200" cy="457200"/>
          </a:xfrm>
          <a:prstGeom prst="ellipse">
            <a:avLst/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51760"/>
            <a:ext cx="2194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Triagem anual</a:t>
            </a:r>
          </a:p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lista de municípios por risco de não atingir a meta, com as variáveis de contexto de cada um, antes do ano letivo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83080"/>
            <a:ext cx="2560320" cy="393192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2011680"/>
            <a:ext cx="457200" cy="457200"/>
          </a:xfrm>
          <a:prstGeom prst="ellipse">
            <a:avLst/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51760"/>
            <a:ext cx="2194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Sinais de alerta antecipados</a:t>
            </a:r>
          </a:p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distorção idade-série, abandono e presença na prova estão disponíveis meses antes do indicador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2560320" cy="393192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69479" y="2011680"/>
            <a:ext cx="457200" cy="457200"/>
          </a:xfrm>
          <a:prstGeom prst="ellipse">
            <a:avLst/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2194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Estratégia por perfil</a:t>
            </a:r>
          </a:p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mesma intervenção para municípios do mesmo perfil, independente da região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783080"/>
            <a:ext cx="2560320" cy="393192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399" y="2011680"/>
            <a:ext cx="457200" cy="457200"/>
          </a:xfrm>
          <a:prstGeom prst="ellips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2651760"/>
            <a:ext cx="21945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Limites</a:t>
            </a:r>
          </a:p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modelo preditivo, não causal; não antecipa choques; reajuste a cada ciclo; válido para os 27 estados do treino, não para transferir a outro contexto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556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Predição e Inteligência Analítica para Alfabetização  ·  Tech Challenge Fase 3  ·  MBA AI Scientist FIAP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D145B"/>
                </a:solidFill>
                <a:latin typeface="Calibri"/>
              </a:rPr>
              <a:t>FECHAMENTO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Conclusão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10332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Gold recomposta com dado real, pipeline reproduzível, dois modelos validados em teste temporal, perfis de município e explicações com rótulos de negócio.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Próximos passos: variáveis do aluno e da escola (Censo Escolar por escola), avaliação causal de programas de alfabetização e reajuste anual automatizado com o dado novo.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5166360"/>
            <a:ext cx="137160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ithub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449824"/>
            <a:ext cx="237744" cy="237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16152" y="543153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github.com/guillecosme/fiap-ai-scientist-tech-challenge-fase-03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9729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D145B"/>
                </a:solidFill>
                <a:latin typeface="Calibri"/>
              </a:rPr>
              <a:t>Vídeo executivo (5 min): </a:t>
            </a:r>
            <a:r>
              <a:rPr sz="1200" b="0">
                <a:solidFill>
                  <a:srgbClr val="555555"/>
                </a:solidFill>
                <a:latin typeface="Calibri"/>
              </a:rPr>
              <a:t>https://www.loom.com/share/447ba58dab7f4fd8ae69ce14f2f96847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16305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Guilherme Cosme  ·  RM 372204  ·  MBA AI Scientist  ·  FIAP / POSTECH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